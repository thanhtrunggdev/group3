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5C518"/>
                </a:solidFill>
              </a:rPr>
              <a:t>X-AURUM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Hệ Thống Dự Báo Giá Vàng Theo Thời Gian Thực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CCCCC"/>
                </a:solidFill>
              </a:rPr>
              <a:t>Triển khai Web API tích hợp Trí tuệ Nhân tạo &amp; Dữ liệu Thị trường Toàn cầu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3749039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CCCC"/>
                </a:solidFill>
              </a:rPr>
              <a:t>Nhóm 3  |  Xuân Hương  |  Quốc Đạt  |  Văn Nguyễn  |  Thành Trung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5C518"/>
                </a:solidFill>
              </a:rPr>
              <a:t>nttspace.online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Xuân Hương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1 · Bài Toán &amp; Kiến Trúc Cốt Lõi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 đặt 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Mô hình AI (ML.NET) chỉ chạy được trên Console nội bộ.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Không thể chia sẻ hoặc tái sử dụng từ bên ngoài.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ASP.NET Core Minimal API (.NET 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3580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Bọc thuật toán AI thành Web Service chuẩn HTTP.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0156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Loại bỏ Controllers truyền thống — kiến trúc Microservices tinh gọn nhất.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4447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Clean 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828800"/>
            <a:ext cx="5303520" cy="128016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01952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GoldPrice_API/
  Endpoints/  -&gt; Dinh tuyen API Routes
  Models/     -&gt; Input / Output Schema
  Extensions/ -&gt; DI, RateLimit, ML Pool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Xuân Hương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2 · Thiết Kế Hai Luồng Endpoint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44752"/>
            <a:ext cx="301752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447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Endpoint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444752"/>
            <a:ext cx="164592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4447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Method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444752"/>
            <a:ext cx="457200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14447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Mô tả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10512"/>
            <a:ext cx="3017520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81051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/api/v1/predictions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1810512"/>
            <a:ext cx="1645920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181051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518"/>
                </a:solidFill>
              </a:rPr>
              <a:t>POST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1810512"/>
            <a:ext cx="4572000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181051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Client tự nhập dữ liệu OHLCV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21992"/>
            <a:ext cx="301752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22199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/api/v1/predictions/realtime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2221992"/>
            <a:ext cx="164592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0440" y="2221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518"/>
                </a:solidFill>
              </a:rPr>
              <a:t>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2221992"/>
            <a:ext cx="457200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60" y="222199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Bot tự kéo data — không cần 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83464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Chuẩn hóa Response RESTful (JSON Wrapper)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18688"/>
            <a:ext cx="5943600" cy="23774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291840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{
  "success": true,
  "data": {
    "predictedClose": 2355.8,
    "predictedCloseVnd": 120000000,
    "liveWorldPrice": 2341.2
  }
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28529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Mọi Client đều parse an toàn.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21868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Dễ mở rộng thêm trường mới.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58444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Phân biệt rõ luồng Manual vs Auto.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Xuân Hương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3 · Tài Liệu API Tự Động Với Swagger (OpenAPI)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Tại sao cần Swagger / OpenAPI?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API đưa ra ngoài mà không có mô tả → Bên thứ 3 không biết cách dùng.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OpenAPI là chuẩn mô tả API được cả ngành công nghiệp sử dụng.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Swagger UI tự động đọc code C# → Sinh trang tài liệu tương tác đầy đủ.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8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Tính năng đã tích hợp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558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Hiển thị đầy đủ 2 endpoints, mô tả tham số và response schema.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2160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Cho phép Execute request ngay trên giao diện Web — không cần Postman.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8736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Là công cụ Demo trực tiếp trong buổi báo cáo hôm nay.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37760"/>
            <a:ext cx="11247120" cy="658368"/>
          </a:xfrm>
          <a:prstGeom prst="rect">
            <a:avLst/>
          </a:prstGeom>
          <a:solidFill>
            <a:srgbClr val="1B2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6EFAC"/>
                </a:solidFill>
              </a:rPr>
              <a:t>Swagger chính là cổng giao tiếp giữa nhóm và thế giới bên ngoài.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Quốc Đạt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4 · Tích Hợp API Bên Thứ 3 (Binance &amp; ExchangeRate)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Bài thi 3: Sử dụng API từ nguồn bên ngoài (3rd-Party APIs)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Server không chờ User nhập liệu — tự động gọi ra 2 nguồn dữ liệu thực tế: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5486400" cy="2926080"/>
          </a:xfrm>
          <a:prstGeom prst="rect">
            <a:avLst/>
          </a:prstGeom>
          <a:solidFill>
            <a:srgbClr val="12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5486400" cy="38404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0D0D"/>
                </a:solidFill>
              </a:rPr>
              <a:t>1. Binance Public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Mục đích: Lấy giá Vàng Spot theo phiên giao dịch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7238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C518"/>
                </a:solidFill>
              </a:rPr>
              <a:t>HTTP Method &amp; URL: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383280"/>
            <a:ext cx="5212080" cy="7315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456432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GET api.binance.com/api/v3/klines
  ?symbol=PAXGUSDT&amp;interval=1d&amp;limit=1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0690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EFAC"/>
                </a:solidFill>
              </a:rPr>
              <a:t>Trích xuất: Open, High, Low, Volume (từ mảng Klines JSON)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286000"/>
            <a:ext cx="5486400" cy="2926080"/>
          </a:xfrm>
          <a:prstGeom prst="rect">
            <a:avLst/>
          </a:prstGeom>
          <a:solidFill>
            <a:srgbClr val="12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2286000"/>
            <a:ext cx="5486400" cy="38404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28600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0D0D"/>
                </a:solidFill>
              </a:rPr>
              <a:t>2. Open Exchange Rates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7157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Mục đích: Lấy tỷ giá USD → VND hiện tại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07238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C518"/>
                </a:solidFill>
              </a:rPr>
              <a:t>HTTP Method &amp; URL: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3383280"/>
            <a:ext cx="5212080" cy="457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564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GET open.er-api.com/v6/latest/USD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0690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6EFAC"/>
                </a:solidFill>
              </a:rPr>
              <a:t>Trích xuất: rates.VND (từ object JSON phản hồi)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349240"/>
            <a:ext cx="11430000" cy="566928"/>
          </a:xfrm>
          <a:prstGeom prst="rect">
            <a:avLst/>
          </a:prstGeom>
          <a:solidFill>
            <a:srgbClr val="1B2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394960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86EFAC"/>
                </a:solidFill>
              </a:rPr>
              <a:t>Kết quả: PredictedClose (USD)  x  tỷ giá VND  =  Giá Vàng VND hiện tại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Quốc Đạt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5 · Xử Lý Bất Đồng Bộ &amp; Phân Tích 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Luồng xử lý bên trong /realtime endpoint (bất đồng bộ):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6400800" cy="32004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6217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1. Server gui HTTP GET -&gt; Binance API
   -&gt; Nhan JSON Klines -&gt; Trich Open, High, Low, Volume
2. Server gui HTTP GET -&gt; Exchange Rates API
   -&gt; Doc node 'VND' -&gt; Nhan ty gia
3. Gop 4 gia tri -&gt; Model AI tinh toan
   -&gt; AI tra ve PredictedClose (USD)
4. PredictedClose x VND_Rate = Gia VND
   -&gt; Tra ve JSON cho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44475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Tại sao dùng async/await?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8288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Server không bị 'đứng' khi chờ mạng.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1945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Xử lý nhiều request đồng thời.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5603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Tăng throughput tổng thể.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926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2918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Kỹ thuật: Task&lt;IResult&gt;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6576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JSON: System.Text.Json DOM tree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023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→ Chỉ đọc đúng node cần thiết,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891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không map toàn bộ object.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Quốc Đạt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6 · IHttpClientFactory - Gọi API Chuyên Nghiệp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 khi dùng new HttpClient() trực tiếp: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Mỗi Request tạo ra một kết nối Socket mới → Cạn kiệt Port (Socket Exhaustion).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Ảnh hưởng nghiêm trọng khi có hàng trăm người dùng gọi API đồng thời.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060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IHttpClientFactory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9008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Đăng ký vào Dependency Injection Container — quản lý vòng đời bộ gọi HTTP.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558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Tái sử dụng kết nối Socket hiệu quả → Không bao giờ bị cạn kiệt 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CCCC"/>
                </a:solidFill>
              </a:rPr>
              <a:t>Cấu hình — chỉ 1 dòng trong ServiceExtensions.cs: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59936"/>
            <a:ext cx="11247120" cy="457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330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builder.Services.AddHttpClient();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37760"/>
            <a:ext cx="11247120" cy="65836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98348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3B82F6"/>
                </a:solidFill>
              </a:rPr>
              <a:t>Thay đổi nhỏ trong DI Container, ngăn chặn toàn bộ nguy cơ Port Exhaustion khi scale.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7 · Bài Toán Hiệu Năng - Hosting ML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 đặc thù khi Host Machine Learning làm REST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File GoldModel.zip nặng ~43MB — chứa toàn bộ cấu trúc thần kinh nhân tạo.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Nếu nạp lại model mỗi lần có Request → Tốn hàng giây xử lý mỗi lượt gọi.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Hàng trăm người dùng đồng thời → Memory Leak → Server Crash.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2608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Kịch bản nguy hiểm: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10128"/>
            <a:ext cx="11247120" cy="1828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8328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// SAI -- nap lai model moi request
app.MapPost('/predict', (input) =&gt; {
    var ctx = new MLContext();
    var model = ctx.Model.Load('GoldModel.zip', ...);
    // -&gt; RAM tang vo han theo so luong request
});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8 · PredictionEnginePool - Quản Trị 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PredictionEnginePool (Object Pooling)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11247120" cy="155448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// DUNG -- dang ky 1 lan duy nhat luc Server khoi dong
builder.Services.AddPredictionEnginePool&lt;ModelInput, ModelOutput&gt;(
    modelName: 'GoldModel',
    modelBuilder: ctx =&gt; ctx.Model.Load('GoldModel.zip', ...)
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9923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Cơ chế hoạt động: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Server start → Nạp model vào RAM đúng 1 lần.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49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Request đến → Mượn Engine → Dự báo → Trả lại Pool.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383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Thread-Safe: Ngàn requests song song, không xung đột.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7490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Zero Memory Leak: Pool tự quản lý vòng đời object.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9 · Rate Limiting - Tường Lửa Chống Tấn Công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Nguy cơ: API công khai → Dễ bị DDoS (tấn công làm nghẽn Server)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Fixed Window Rate Limiting Middleware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5212080" cy="201168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6EFAC"/>
                </a:solidFill>
              </a:rPr>
              <a:t>Cấu hình hiện tại: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61488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  Permit Limit: 5 Request
  Window: 10 giây / IP
  Queue: 2 Request được xếp hàng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2331720"/>
            <a:ext cx="5760720" cy="2011680"/>
          </a:xfrm>
          <a:prstGeom prst="rect">
            <a:avLst/>
          </a:prstGeom>
          <a:solidFill>
            <a:srgbClr val="2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239572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Kết quả khi vượt giới hạn: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761488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HTTP 429 Too Many Requests
  Bị chặn tại tầng HTTP Pipeline
  → Chưa chạm vào AI Model
  → CPU &amp; RAM hoàn toàn an toàn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37760"/>
            <a:ext cx="11247120" cy="658368"/>
          </a:xfrm>
          <a:prstGeom prst="rect">
            <a:avLst/>
          </a:prstGeom>
          <a:solidFill>
            <a:srgbClr val="1B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3B82F6"/>
                </a:solidFill>
              </a:rPr>
              <a:t>Middleware chặn từ ngoài vào — lớp khiên thép bảo vệ toàn bộ tài nguyên phía trong.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Thành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10 · Docker - Đóng Gói &amp; Chuẩn Hóa Môi Trường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đề: 'Code chạy máy em, sao Server lại lỗi?' → Xung đột môi trường 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Docker Multi-stage Build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58568"/>
            <a:ext cx="5943600" cy="23774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# Stage 1: Build (SDK ~800MB)
FROM mcr.microsoft.com/dotnet/sdk:10.0 AS build
RUN dotnet publish -c Release -o /app/publish
# Stage 2: Runtime (~200MB)
FROM mcr.microsoft.com/dotnet/aspnet:10.0 AS final
COPY --from=build /app/publish .
ENTRYPOINT ["dotnet", "GoldPrice_API.dll"]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874519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Kết quả: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25856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Image production chỉ ~200MB.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62432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Không chứa SDK thừa.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99008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Chạy giống hệt nhau trên mọi máy có Docker.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3558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72160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docker compose up -d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08736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→ Toàn bộ hệ thống khởi động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45312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chỉ với 1 lệnh duy nhất.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Thành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11 · CI/CD &amp; Triển Khai Trên nttspace.online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Quy trình CI/CD tự động (GitHub Actions):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5303520" cy="4389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023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  [&gt;&gt;] git push lên GitHub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9151"/>
            <a:ext cx="5303520" cy="4389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04871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&gt;&gt; GitHub Actions kích hoạt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843783"/>
            <a:ext cx="5303520" cy="4389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889503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&gt;&gt; Build Docker 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28415"/>
            <a:ext cx="5303520" cy="4389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374135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&gt;&gt; Push lên GHCR (GitHub Container Registry)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813047"/>
            <a:ext cx="5303520" cy="4389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58767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6EFAC"/>
                </a:solidFill>
              </a:rPr>
              <a:t>  &gt;&gt; Server kéo image mới &amp; Restart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44475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Nginx Reverse Proxy: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87451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Tiếp nhận traffic từ nttspace.online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24027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(Port 80 / 443 HTTPS).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60603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97179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Chuyển tiếp vào Docker Container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33755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đang lắng nghe nội bộ.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70331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06907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Kết quả: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4617720"/>
            <a:ext cx="5212080" cy="5303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66344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0D0D"/>
                </a:solidFill>
              </a:rPr>
              <a:t>nttspace.online  --  LIVE!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743200" cy="38404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" y="7315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  Thành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Slide 12 · Live Demo Trên Swagger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98448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Demo 1 — GET /api/v1/predictions/realtime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4708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1. Mở Swagger UI trên nttspace.online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128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2. Chọn GET /realtime → Execute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7860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3. Server tự gọi Binance + Exchange Rates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4436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4. AI tính toán → Trả JSON: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29000"/>
            <a:ext cx="5669280" cy="7315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502152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"predictedClose": 2355.8
"predictedCloseVnd": 120,000,000 VND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41732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Demo 2 — Kiểm tra Rate Limiting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470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1. Chọn POST /predictions → Execute liên tục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128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2. Lần 1-5: Response 200 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7860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3. Lần 6-7: Response 429 [!]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443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Too Many Requests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3101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→ Tường lửa hoạt động hoàn hảo!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92040"/>
            <a:ext cx="11247120" cy="749808"/>
          </a:xfrm>
          <a:prstGeom prst="rect">
            <a:avLst/>
          </a:prstGeom>
          <a:solidFill>
            <a:srgbClr val="1B2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86EFAC"/>
                </a:solidFill>
              </a:rPr>
              <a:t>Toàn bộ hệ thống đang chạy LIVE tại  nttspace.online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C518"/>
                </a:solidFill>
              </a:rPr>
              <a:t>CẢM ƠN THẦY CÔ &amp; HỘI ĐỔNG!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CCCC"/>
                </a:solidFill>
              </a:rPr>
              <a:t>Nhóm 3 xin lắng nghe câu hỏi phản biện.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16352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2999232"/>
            <a:ext cx="2834640" cy="107899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2999232"/>
            <a:ext cx="283464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09067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Xuân Hương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47872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Kiến trúc API &amp; Swagger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2999232"/>
            <a:ext cx="2834640" cy="107899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2999232"/>
            <a:ext cx="283464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309067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Quốc Đạt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547872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Tích hợp 3rd-Party APIs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999232"/>
            <a:ext cx="2834640" cy="107899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2999232"/>
            <a:ext cx="283464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09067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Văn Nguyễn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547872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Hiệu năng &amp; Bảo mật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999232"/>
            <a:ext cx="2834640" cy="107899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2999232"/>
            <a:ext cx="283464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309067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Thành Trung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547872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DevOps &amp; Live Demo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645152"/>
            <a:ext cx="10058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C518"/>
                </a:solidFill>
              </a:rPr>
              <a:t>nttspace.online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